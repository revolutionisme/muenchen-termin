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Hallo zusammen, heute werde ich dir eine lustige Sache mitteilen: Das Thema ist Buchungstermin schneller im KVR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Hello everyone, today I am going to share you a funny thing to you.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5cc1fcabb0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5cc1fcabb0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Lassen Sie mich zunächst eine Einführung geben.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Mein Name ist Changkun Ou,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Hier ist eine deutsche Aussprache, es ist ...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 so eine englische Version,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Ich arbeite als Software Architekt und studiere als Doktorandin in Computergrafik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Sie finden mich im Internet, über GitHub oder auf meiner Website.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First, let me give you a introduction.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 name is Changkun Ou,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is a german </a:t>
            </a:r>
            <a:r>
              <a:rPr lang="en"/>
              <a:t>pronunciation, it is...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also an English version,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work as a software engineer, and study as a Ph.D. student in computer graphics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find me on the internet, via GitHub or my website.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5cc1fcabb0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5cc1fcabb0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Wenn ich anfange, Fahrstunden zu nehmen,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Die Fahrschule sagt mir, dass ich mich zuerst mit KVR verabreden muss.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Nachdem ich alle erforderlichen Dokumente gelesen habe.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Laut der Website ist der schnellste Termin drei Monate später.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Das ist </a:t>
            </a:r>
            <a:r>
              <a:rPr lang="en"/>
              <a:t>lächerlich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I thought about taking driving lessons, the driving school told me that I needed to make an appointment with KVR for my data transmission.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I prepared all required documents, their website told me the latest appointment is three months </a:t>
            </a:r>
            <a:r>
              <a:rPr lang="en"/>
              <a:t>later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cc1fcabb0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cc1fcabb0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Also, ich habe eine Frage an dich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So, I have a question for you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5cc1fcabb0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5cc1fcabb0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5cc1fcabb0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5cc1fcabb0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was bedeutet: which means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Observations: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 1: New appointment published at random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→ An earlier appointment is possible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Fact 2: The website has no defense system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→ I can check the time table very quickly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5cc1fcabb0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5cc1fcabb0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 I develop an android to automatically check the available appointment? Die </a:t>
            </a:r>
            <a:r>
              <a:rPr lang="en"/>
              <a:t>Webabfrage</a:t>
            </a:r>
            <a:r>
              <a:rPr lang="en"/>
              <a:t> ist einfach!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is possible!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cc1fcabb0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cc1fcabb0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5cc1fcabb0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5cc1fcabb0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Dann, Das ist mine Implementierung fur ein Demo. Eine 13 Zeilen Code Losung.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5cc1fcabb0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5cc1fcabb0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坡咯个穷死ver si 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5bb2ff301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5bb2ff301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夫额纹懂死次weck : Du gebe einfach python termin.py ein.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5cc1fcabb0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5cc1fcabb0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5cc1fcabb0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5cc1fcabb0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hangkun.de" TargetMode="External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ithub.com/changkun/muenchen-termin" TargetMode="External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github.com/changkun/muenchen-termin" TargetMode="External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5191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Buchungstermin schneller im </a:t>
            </a:r>
            <a:r>
              <a:rPr b="1" lang="en">
                <a:solidFill>
                  <a:srgbClr val="0B5394"/>
                </a:solidFill>
              </a:rPr>
              <a:t>K</a:t>
            </a:r>
            <a:r>
              <a:rPr lang="en"/>
              <a:t>reis</a:t>
            </a:r>
            <a:r>
              <a:rPr b="1" lang="en">
                <a:solidFill>
                  <a:srgbClr val="0B5394"/>
                </a:solidFill>
              </a:rPr>
              <a:t>v</a:t>
            </a:r>
            <a:r>
              <a:rPr lang="en"/>
              <a:t>erwaltungs</a:t>
            </a:r>
            <a:r>
              <a:rPr b="1" lang="en">
                <a:solidFill>
                  <a:srgbClr val="0B5394"/>
                </a:solidFill>
              </a:rPr>
              <a:t>r</a:t>
            </a:r>
            <a:r>
              <a:rPr lang="en"/>
              <a:t>eferat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77349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Changkun Ou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08.07.2019</a:t>
            </a:r>
            <a:endParaRPr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Einführung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🇨🇳 欧长坤 / </a:t>
            </a:r>
            <a:r>
              <a:rPr lang="en"/>
              <a:t>Ou, </a:t>
            </a:r>
            <a:r>
              <a:rPr lang="en"/>
              <a:t>Changkun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🇩🇪 Tschang-Kwën Ou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🇬🇧 / t͡ʂʰɑŋkuən ɤʊ /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Arbeit als Senior Softwarearchitekt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Doktorand in Computergrafik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GitHub    @changkun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Website  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https://changkun.de</a:t>
            </a:r>
            <a:r>
              <a:rPr lang="en"/>
              <a:t> 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17650" y="445025"/>
            <a:ext cx="1614650" cy="161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Eine echte Erfahrung … Termin beim KVR</a:t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9476" y="944800"/>
            <a:ext cx="6165498" cy="51434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" name="Google Shape;69;p15"/>
          <p:cNvCxnSpPr/>
          <p:nvPr/>
        </p:nvCxnSpPr>
        <p:spPr>
          <a:xfrm>
            <a:off x="2090500" y="4666775"/>
            <a:ext cx="10500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0" name="Google Shape;70;p15"/>
          <p:cNvSpPr/>
          <p:nvPr/>
        </p:nvSpPr>
        <p:spPr>
          <a:xfrm>
            <a:off x="3332375" y="4400675"/>
            <a:ext cx="532200" cy="5322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311700" y="4049325"/>
            <a:ext cx="23790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Ihr schnellster Termin ist drei Monate später !!! 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Das ist lächerlich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311700" y="1195875"/>
            <a:ext cx="2710200" cy="21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Wenn ich anfange</a:t>
            </a:r>
            <a:endParaRPr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Fahrstunden zu nehmen, </a:t>
            </a:r>
            <a:endParaRPr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Die Fahrschule sagt mir, </a:t>
            </a:r>
            <a:endParaRPr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dass ich mich zuerst mit KVR verabreden muss.</a:t>
            </a:r>
            <a:endParaRPr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1399700"/>
            <a:ext cx="8520600" cy="123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Frage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Was würdest du tun, wenn du ich wärst?</a:t>
            </a:r>
            <a:endParaRPr sz="3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1399700"/>
            <a:ext cx="8520600" cy="123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Frage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Was würdest du tun, wenn du ich wärst?</a:t>
            </a:r>
            <a:endParaRPr sz="3000"/>
          </a:p>
        </p:txBody>
      </p:sp>
      <p:sp>
        <p:nvSpPr>
          <p:cNvPr id="83" name="Google Shape;83;p17"/>
          <p:cNvSpPr txBox="1"/>
          <p:nvPr/>
        </p:nvSpPr>
        <p:spPr>
          <a:xfrm>
            <a:off x="3155850" y="3347450"/>
            <a:ext cx="2832300" cy="8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FFFF"/>
                </a:solidFill>
              </a:rPr>
              <a:t>Warten</a:t>
            </a:r>
            <a:r>
              <a:rPr b="1" lang="en" sz="3000">
                <a:solidFill>
                  <a:srgbClr val="FFFFFF"/>
                </a:solidFill>
              </a:rPr>
              <a:t>? Nein!</a:t>
            </a:r>
            <a:endParaRPr b="1" sz="3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Beobachtungen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Fakt</a:t>
            </a:r>
            <a:r>
              <a:rPr lang="en"/>
              <a:t> 1: Neuer Termin nach dem Zufallsprinzip veröffentlicht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    → ein früherer termin ist möglich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Fakt 2: Die Website hat kein Abwehrsystem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    → Ich kann den Stundenplan schnell überprüfen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398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Kann ich ein Bot entwickeln,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178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um den neu verfügbaren Termin automatisch zu überprüfen?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Es ist möglich!</a:t>
            </a:r>
            <a:endParaRPr b="1">
              <a:solidFill>
                <a:srgbClr val="FFFFFF"/>
              </a:solidFill>
            </a:endParaRPr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8626" y="1517550"/>
            <a:ext cx="7127976" cy="41929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9"/>
          <p:cNvSpPr/>
          <p:nvPr/>
        </p:nvSpPr>
        <p:spPr>
          <a:xfrm>
            <a:off x="5892875" y="2801675"/>
            <a:ext cx="621600" cy="1704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9"/>
          <p:cNvSpPr/>
          <p:nvPr/>
        </p:nvSpPr>
        <p:spPr>
          <a:xfrm>
            <a:off x="6786150" y="3115875"/>
            <a:ext cx="1525200" cy="7503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9"/>
          <p:cNvSpPr txBox="1"/>
          <p:nvPr/>
        </p:nvSpPr>
        <p:spPr>
          <a:xfrm>
            <a:off x="5856900" y="2362075"/>
            <a:ext cx="32871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</a:rPr>
              <a:t>Webanfrage an den Server</a:t>
            </a:r>
            <a:endParaRPr b="1"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Ergänzung</a:t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0758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Die Serverantwort enthält alle Termininformationen!</a:t>
            </a:r>
            <a:endParaRPr/>
          </a:p>
        </p:txBody>
      </p:sp>
      <p:pic>
        <p:nvPicPr>
          <p:cNvPr id="106" name="Google Shape;106;p20"/>
          <p:cNvPicPr preferRelativeResize="0"/>
          <p:nvPr/>
        </p:nvPicPr>
        <p:blipFill rotWithShape="1">
          <a:blip r:embed="rId3">
            <a:alphaModFix/>
          </a:blip>
          <a:srcRect b="0" l="0" r="0" t="12426"/>
          <a:stretch/>
        </p:blipFill>
        <p:spPr>
          <a:xfrm>
            <a:off x="200025" y="1583925"/>
            <a:ext cx="8743950" cy="450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0"/>
          <p:cNvSpPr/>
          <p:nvPr/>
        </p:nvSpPr>
        <p:spPr>
          <a:xfrm>
            <a:off x="1583900" y="4360075"/>
            <a:ext cx="7076700" cy="297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Implementierung (Demo, Grundgedanke)</a:t>
            </a:r>
            <a:endParaRPr/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1</a:t>
            </a:r>
            <a:r>
              <a:rPr b="1" lang="en" sz="1100">
                <a:solidFill>
                  <a:srgbClr val="C586C0"/>
                </a:solidFill>
                <a:latin typeface="Courier New"/>
                <a:ea typeface="Courier New"/>
                <a:cs typeface="Courier New"/>
                <a:sym typeface="Courier New"/>
              </a:rPr>
              <a:t> import</a:t>
            </a:r>
            <a:r>
              <a:rPr b="1" lang="en" sz="1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re, json, requests</a:t>
            </a:r>
            <a:endParaRPr b="1" sz="1100">
              <a:solidFill>
                <a:srgbClr val="569CD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2</a:t>
            </a:r>
            <a:r>
              <a:rPr b="1" lang="en" sz="11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 def</a:t>
            </a:r>
            <a:r>
              <a:rPr b="1" lang="en" sz="1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1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get_termine</a:t>
            </a:r>
            <a:r>
              <a:rPr b="1" lang="en" sz="1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110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entry</a:t>
            </a:r>
            <a:r>
              <a:rPr b="1" lang="en" sz="1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110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termin_type</a:t>
            </a:r>
            <a:r>
              <a:rPr b="1" lang="en" sz="1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):</a:t>
            </a:r>
            <a:endParaRPr b="1" sz="11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3     s = requests.Session()                          </a:t>
            </a:r>
            <a:r>
              <a:rPr b="1" lang="en" sz="11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# Schritt 1. eine Sitzung einleiten</a:t>
            </a:r>
            <a:endParaRPr b="1" sz="1100">
              <a:solidFill>
                <a:srgbClr val="6A995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4     s.post(entry)                                   </a:t>
            </a:r>
            <a:r>
              <a:rPr b="1" lang="en" sz="11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# Schritt 2. Auf die Website gehen</a:t>
            </a:r>
            <a:endParaRPr b="1" sz="1100">
              <a:solidFill>
                <a:srgbClr val="6A995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5     response = s.post(entry, {                      </a:t>
            </a:r>
            <a:r>
              <a:rPr b="1" lang="en" sz="1100">
                <a:solidFill>
                  <a:srgbClr val="6A9955"/>
                </a:solidFill>
                <a:latin typeface="Courier New"/>
                <a:ea typeface="Courier New"/>
                <a:cs typeface="Courier New"/>
                <a:sym typeface="Courier New"/>
              </a:rPr>
              <a:t># Schritt 3. Suchauftrag einleiten</a:t>
            </a:r>
            <a:endParaRPr b="1" sz="1100">
              <a:solidFill>
                <a:srgbClr val="6A995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6         </a:t>
            </a:r>
            <a:r>
              <a:rPr b="1" lang="en" sz="11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'CASETYPES[</a:t>
            </a:r>
            <a:r>
              <a:rPr b="1" lang="en" sz="1100">
                <a:solidFill>
                  <a:srgbClr val="569CD6"/>
                </a:solidFill>
                <a:latin typeface="Courier New"/>
                <a:ea typeface="Courier New"/>
                <a:cs typeface="Courier New"/>
                <a:sym typeface="Courier New"/>
              </a:rPr>
              <a:t>%s</a:t>
            </a:r>
            <a:r>
              <a:rPr b="1" lang="en" sz="11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]'</a:t>
            </a:r>
            <a:r>
              <a:rPr b="1" lang="en" sz="1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% termin_type: </a:t>
            </a:r>
            <a:r>
              <a:rPr b="1" lang="en" sz="11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" sz="1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1" sz="11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7         </a:t>
            </a:r>
            <a:r>
              <a:rPr b="1" lang="en" sz="11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'step'</a:t>
            </a:r>
            <a:r>
              <a:rPr b="1" lang="en" sz="1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1" lang="en" sz="11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'WEB_APPOINT_SEARCH_BY_CASETYPES'</a:t>
            </a:r>
            <a:r>
              <a:rPr b="1" lang="en" sz="1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1" sz="11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8     })</a:t>
            </a:r>
            <a:endParaRPr b="1" sz="11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9     </a:t>
            </a:r>
            <a:r>
              <a:rPr b="1" lang="en" sz="1100">
                <a:solidFill>
                  <a:srgbClr val="C586C0"/>
                </a:solidFill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b="1" lang="en" sz="1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json.loads(re.search(</a:t>
            </a:r>
            <a:r>
              <a:rPr b="1" lang="en" sz="11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'jsonAppoints = </a:t>
            </a:r>
            <a:r>
              <a:rPr b="1" lang="en" sz="1100">
                <a:solidFill>
                  <a:srgbClr val="D7BA7D"/>
                </a:solidFill>
                <a:latin typeface="Courier New"/>
                <a:ea typeface="Courier New"/>
                <a:cs typeface="Courier New"/>
                <a:sym typeface="Courier New"/>
              </a:rPr>
              <a:t>\'</a:t>
            </a:r>
            <a:r>
              <a:rPr b="1" lang="en" sz="11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(.*?)</a:t>
            </a:r>
            <a:r>
              <a:rPr b="1" lang="en" sz="1100">
                <a:solidFill>
                  <a:srgbClr val="D7BA7D"/>
                </a:solidFill>
                <a:latin typeface="Courier New"/>
                <a:ea typeface="Courier New"/>
                <a:cs typeface="Courier New"/>
                <a:sym typeface="Courier New"/>
              </a:rPr>
              <a:t>\'</a:t>
            </a:r>
            <a:r>
              <a:rPr b="1" lang="en" sz="11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</a:t>
            </a:r>
            <a:r>
              <a:rPr b="1" lang="en" sz="1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, response.text).group(</a:t>
            </a:r>
            <a:r>
              <a:rPr b="1" lang="en" sz="1100">
                <a:solidFill>
                  <a:srgbClr val="B5CEA8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b="1" lang="en" sz="1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b="1" sz="11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b="1" lang="en" sz="1100">
                <a:solidFill>
                  <a:srgbClr val="C586C0"/>
                </a:solidFill>
                <a:latin typeface="Courier New"/>
                <a:ea typeface="Courier New"/>
                <a:cs typeface="Courier New"/>
                <a:sym typeface="Courier New"/>
              </a:rPr>
              <a:t> if</a:t>
            </a:r>
            <a:r>
              <a:rPr b="1" lang="en" sz="1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1100">
                <a:solidFill>
                  <a:srgbClr val="9CDCFE"/>
                </a:solidFill>
                <a:latin typeface="Courier New"/>
                <a:ea typeface="Courier New"/>
                <a:cs typeface="Courier New"/>
                <a:sym typeface="Courier New"/>
              </a:rPr>
              <a:t>__name__</a:t>
            </a:r>
            <a:r>
              <a:rPr b="1" lang="en" sz="1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 == </a:t>
            </a:r>
            <a:r>
              <a:rPr b="1" lang="en" sz="11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"__main__"</a:t>
            </a:r>
            <a:r>
              <a:rPr b="1" lang="en" sz="1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1" sz="11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11     entry = </a:t>
            </a:r>
            <a:r>
              <a:rPr b="1" lang="en" sz="11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'https://www22.muenchen.de/termin/index.php?loc=FS'</a:t>
            </a:r>
            <a:endParaRPr b="1" sz="1100">
              <a:solidFill>
                <a:srgbClr val="CE917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12     termin_type = </a:t>
            </a:r>
            <a:r>
              <a:rPr b="1" lang="en" sz="1100">
                <a:solidFill>
                  <a:srgbClr val="CE9178"/>
                </a:solidFill>
                <a:latin typeface="Courier New"/>
                <a:ea typeface="Courier New"/>
                <a:cs typeface="Courier New"/>
                <a:sym typeface="Courier New"/>
              </a:rPr>
              <a:t>'FS Fahrerlaubnis erstmalig'</a:t>
            </a:r>
            <a:endParaRPr b="1" sz="1100">
              <a:solidFill>
                <a:srgbClr val="CE917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13     </a:t>
            </a:r>
            <a:r>
              <a:rPr b="1" lang="en" sz="1100">
                <a:solidFill>
                  <a:srgbClr val="DCDCAA"/>
                </a:solidFill>
                <a:latin typeface="Courier New"/>
                <a:ea typeface="Courier New"/>
                <a:cs typeface="Courier New"/>
                <a:sym typeface="Courier New"/>
              </a:rPr>
              <a:t>print</a:t>
            </a:r>
            <a:r>
              <a:rPr b="1" lang="en" sz="1100">
                <a:solidFill>
                  <a:srgbClr val="D4D4D4"/>
                </a:solidFill>
                <a:latin typeface="Courier New"/>
                <a:ea typeface="Courier New"/>
                <a:cs typeface="Courier New"/>
                <a:sym typeface="Courier New"/>
              </a:rPr>
              <a:t>(get_termine(entry, termin_type))</a:t>
            </a:r>
            <a:endParaRPr b="1" sz="1100">
              <a:solidFill>
                <a:srgbClr val="D4D4D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b="1" sz="1100">
              <a:solidFill>
                <a:srgbClr val="569CD6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Produktionsversion </a:t>
            </a:r>
            <a:r>
              <a:rPr lang="en" sz="1100" u="sng">
                <a:solidFill>
                  <a:schemeClr val="hlink"/>
                </a:solidFill>
                <a:hlinkClick r:id="rId3"/>
              </a:rPr>
              <a:t>https://github.com/changkun/muenchen-termin</a:t>
            </a:r>
            <a:endParaRPr/>
          </a:p>
        </p:txBody>
      </p:sp>
      <p:pic>
        <p:nvPicPr>
          <p:cNvPr id="119" name="Google Shape;11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63475" y="826875"/>
            <a:ext cx="7665050" cy="5835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311700" y="1291158"/>
            <a:ext cx="2511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Es kann jede Art von Termin bei muenchen.de </a:t>
            </a:r>
            <a:r>
              <a:rPr b="1" lang="en">
                <a:solidFill>
                  <a:srgbClr val="FFFFFF"/>
                </a:solidFill>
              </a:rPr>
              <a:t>automatisch</a:t>
            </a:r>
            <a:r>
              <a:rPr lang="en"/>
              <a:t> für Ihren </a:t>
            </a:r>
            <a:r>
              <a:rPr b="1" lang="en">
                <a:solidFill>
                  <a:srgbClr val="FFFFFF"/>
                </a:solidFill>
              </a:rPr>
              <a:t>Wunschtermin</a:t>
            </a:r>
            <a:r>
              <a:rPr lang="en"/>
              <a:t> buchen.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Produktionsversion </a:t>
            </a:r>
            <a:r>
              <a:rPr lang="en" sz="1100" u="sng">
                <a:solidFill>
                  <a:schemeClr val="hlink"/>
                </a:solidFill>
                <a:hlinkClick r:id="rId3"/>
              </a:rPr>
              <a:t>https://github.com/changkun/muenchen-termin</a:t>
            </a:r>
            <a:endParaRPr/>
          </a:p>
        </p:txBody>
      </p:sp>
      <p:pic>
        <p:nvPicPr>
          <p:cNvPr id="126" name="Google Shape;12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8852" y="1523306"/>
            <a:ext cx="7503450" cy="6316201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1152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Verwendungszweck</a:t>
            </a:r>
            <a:r>
              <a:rPr lang="en"/>
              <a:t>: </a:t>
            </a:r>
            <a:r>
              <a:rPr lang="en">
                <a:solidFill>
                  <a:srgbClr val="674EA7"/>
                </a:solidFill>
                <a:latin typeface="Trebuchet MS"/>
                <a:ea typeface="Trebuchet MS"/>
                <a:cs typeface="Trebuchet MS"/>
                <a:sym typeface="Trebuchet MS"/>
              </a:rPr>
              <a:t>$</a:t>
            </a:r>
            <a:r>
              <a:rPr lang="en">
                <a:latin typeface="Trebuchet MS"/>
                <a:ea typeface="Trebuchet MS"/>
                <a:cs typeface="Trebuchet MS"/>
                <a:sym typeface="Trebuchet MS"/>
              </a:rPr>
              <a:t> python termin.py </a:t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Endlich… </a:t>
            </a:r>
            <a:endParaRPr/>
          </a:p>
        </p:txBody>
      </p:sp>
      <p:cxnSp>
        <p:nvCxnSpPr>
          <p:cNvPr id="133" name="Google Shape;133;p24"/>
          <p:cNvCxnSpPr/>
          <p:nvPr/>
        </p:nvCxnSpPr>
        <p:spPr>
          <a:xfrm>
            <a:off x="432900" y="2580250"/>
            <a:ext cx="82782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4" name="Google Shape;134;p24"/>
          <p:cNvSpPr/>
          <p:nvPr/>
        </p:nvSpPr>
        <p:spPr>
          <a:xfrm>
            <a:off x="1013375" y="2482350"/>
            <a:ext cx="178800" cy="178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4"/>
          <p:cNvSpPr/>
          <p:nvPr/>
        </p:nvSpPr>
        <p:spPr>
          <a:xfrm>
            <a:off x="2667075" y="2482350"/>
            <a:ext cx="178800" cy="178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4"/>
          <p:cNvSpPr txBox="1"/>
          <p:nvPr/>
        </p:nvSpPr>
        <p:spPr>
          <a:xfrm>
            <a:off x="422375" y="2963450"/>
            <a:ext cx="13608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28.06</a:t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Anmeldung Fahrschule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37" name="Google Shape;137;p24"/>
          <p:cNvSpPr txBox="1"/>
          <p:nvPr/>
        </p:nvSpPr>
        <p:spPr>
          <a:xfrm>
            <a:off x="2076075" y="2963450"/>
            <a:ext cx="13608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29</a:t>
            </a:r>
            <a:r>
              <a:rPr lang="en">
                <a:solidFill>
                  <a:srgbClr val="FFFFFF"/>
                </a:solidFill>
              </a:rPr>
              <a:t>.06</a:t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Erste-Hilfe Kurse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38" name="Google Shape;138;p24"/>
          <p:cNvSpPr txBox="1"/>
          <p:nvPr/>
        </p:nvSpPr>
        <p:spPr>
          <a:xfrm>
            <a:off x="3637800" y="2963450"/>
            <a:ext cx="18684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30</a:t>
            </a:r>
            <a:r>
              <a:rPr lang="en">
                <a:solidFill>
                  <a:srgbClr val="FFFFFF"/>
                </a:solidFill>
              </a:rPr>
              <a:t>.06</a:t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Programmierung &amp; Terminvereinbarung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39" name="Google Shape;139;p24"/>
          <p:cNvSpPr/>
          <p:nvPr/>
        </p:nvSpPr>
        <p:spPr>
          <a:xfrm>
            <a:off x="4482600" y="2482350"/>
            <a:ext cx="178800" cy="178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4"/>
          <p:cNvSpPr/>
          <p:nvPr/>
        </p:nvSpPr>
        <p:spPr>
          <a:xfrm>
            <a:off x="6298125" y="2482350"/>
            <a:ext cx="178800" cy="178800"/>
          </a:xfrm>
          <a:prstGeom prst="ellipse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4"/>
          <p:cNvSpPr txBox="1"/>
          <p:nvPr/>
        </p:nvSpPr>
        <p:spPr>
          <a:xfrm>
            <a:off x="5506200" y="2963450"/>
            <a:ext cx="18684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01</a:t>
            </a:r>
            <a:r>
              <a:rPr lang="en">
                <a:solidFill>
                  <a:srgbClr val="FFFFFF"/>
                </a:solidFill>
              </a:rPr>
              <a:t>.07</a:t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Registrierung im KVR erfolgreich</a:t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🙃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42" name="Google Shape;142;p24"/>
          <p:cNvSpPr/>
          <p:nvPr/>
        </p:nvSpPr>
        <p:spPr>
          <a:xfrm>
            <a:off x="8051500" y="2482350"/>
            <a:ext cx="178800" cy="178800"/>
          </a:xfrm>
          <a:prstGeom prst="ellipse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7246725" y="2963450"/>
            <a:ext cx="1868400" cy="6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14</a:t>
            </a:r>
            <a:r>
              <a:rPr lang="en">
                <a:solidFill>
                  <a:srgbClr val="FF0000"/>
                </a:solidFill>
              </a:rPr>
              <a:t>.10</a:t>
            </a:r>
            <a:endParaRPr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Der</a:t>
            </a:r>
            <a:endParaRPr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Herkunftsplan</a:t>
            </a:r>
            <a:endParaRPr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😡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44" name="Google Shape;144;p24"/>
          <p:cNvSpPr txBox="1"/>
          <p:nvPr/>
        </p:nvSpPr>
        <p:spPr>
          <a:xfrm>
            <a:off x="3360150" y="3882650"/>
            <a:ext cx="2423700" cy="12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Nur </a:t>
            </a:r>
            <a:r>
              <a:rPr lang="en">
                <a:solidFill>
                  <a:srgbClr val="FF0000"/>
                </a:solidFill>
              </a:rPr>
              <a:t>10 Minutes Programmierung</a:t>
            </a:r>
            <a:endParaRPr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dann automatisch buchen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45" name="Google Shape;145;p24"/>
          <p:cNvSpPr txBox="1"/>
          <p:nvPr>
            <p:ph idx="1" type="body"/>
          </p:nvPr>
        </p:nvSpPr>
        <p:spPr>
          <a:xfrm>
            <a:off x="311700" y="1152475"/>
            <a:ext cx="8520600" cy="178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Nach 110 Versuchen fand mein Bot einen Termin, und </a:t>
            </a:r>
            <a:r>
              <a:rPr lang="en"/>
              <a:t>Ich beginne innerhalb von 4 Tagen Fahrstunden zu nehmen.</a:t>
            </a:r>
            <a:endParaRPr b="1">
              <a:solidFill>
                <a:srgbClr val="FFFFFF"/>
              </a:solidFill>
            </a:endParaRPr>
          </a:p>
        </p:txBody>
      </p:sp>
      <p:pic>
        <p:nvPicPr>
          <p:cNvPr id="146" name="Google Shape;146;p24"/>
          <p:cNvPicPr preferRelativeResize="0"/>
          <p:nvPr/>
        </p:nvPicPr>
        <p:blipFill rotWithShape="1">
          <a:blip r:embed="rId3">
            <a:alphaModFix/>
          </a:blip>
          <a:srcRect b="0" l="2690" r="6425" t="6050"/>
          <a:stretch/>
        </p:blipFill>
        <p:spPr>
          <a:xfrm>
            <a:off x="2076075" y="314811"/>
            <a:ext cx="2501850" cy="572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Danke für Ihre Aufmerksamkeit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